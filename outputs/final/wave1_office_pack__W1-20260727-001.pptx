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default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0.11690743713215623</c:v>
                </c:pt>
                <c:pt idx="1">
                  <c:v>0.1645367412140575</c:v>
                </c:pt>
                <c:pt idx="2">
                  <c:v>0.5136034732272069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default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0.11710400883046511</c:v>
                </c:pt>
                <c:pt idx="1">
                  <c:v>0.298237686398554</c:v>
                </c:pt>
                <c:pt idx="2">
                  <c:v>0.5284423179160022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365D"/>
                </a:solidFill>
                <a:latin typeface="Arial"/>
              </a:rPr>
              <a:t>Credit Risk Signal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402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43447"/>
                </a:solidFill>
                <a:latin typeface="Arial"/>
              </a:rPr>
              <a:t>Wave 1 source, SQL QA, and explainable signal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E75B6"/>
                </a:solidFill>
                <a:latin typeface="Arial"/>
              </a:rPr>
              <a:t>Run W1-20260727-001  |  signal definition 0.1.0</a:t>
            </a:r>
            <a:br/>
            <a:r>
              <a:rPr sz="1600" b="0">
                <a:solidFill>
                  <a:srgbClr val="2E75B6"/>
                </a:solidFill>
                <a:latin typeface="Arial"/>
              </a:rPr>
              <a:t>Prepared for EY FSRM-style internal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Arial"/>
              </a:rPr>
              <a:t>Validated Wave 1 evidence is reproducible and reviewable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514600" cy="123444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30,000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Borrowers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508760"/>
            <a:ext cx="2514600" cy="123444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180,000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Borrower-months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508760"/>
            <a:ext cx="2514600" cy="123444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15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SQL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508760"/>
            <a:ext cx="2514600" cy="123444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Failed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43447"/>
                </a:solidFill>
                <a:latin typeface="Arial"/>
              </a:rPr>
              <a:t>Gate 1–3 independent checks passed for one run ID. Source/raw, borrower, six-month borrower-month, bill, and payment populations reconcile under the approved controls. This supports controlled analysis; it is not model or publication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Arial"/>
              </a:rPr>
              <a:t>The relational transformation preserves rows and amounts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058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94560"/>
                <a:gridCol w="2194560"/>
                <a:gridCol w="1645920"/>
              </a:tblGrid>
              <a:tr h="5410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Source / expected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Derived / actual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Source rows → raw 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30000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30000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Raw rows → borrowers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30000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30000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Borrowers × 6 → borrower-months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180000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180000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Wide bills → long bills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8095850136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8095850136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Wide payments → long payments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949541777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949541777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006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43447"/>
                </a:solidFill>
                <a:latin typeface="Arial"/>
              </a:rPr>
              <a:t>The exact row ties and validated amount differences protect the downstream borrower-level signal denominator.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Arial"/>
              </a:rPr>
              <a:t>Data-quality controls passed; detailed test IDs remain upstream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14600" cy="132588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Duplicate borrower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417320"/>
            <a:ext cx="2514600" cy="132588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Orphan borrower-months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2514600" cy="132588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Invalid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417320"/>
            <a:ext cx="2514600" cy="1325880"/>
          </a:xfrm>
          <a:prstGeom prst="roundRect">
            <a:avLst/>
          </a:prstGeom>
          <a:solidFill>
            <a:srgbClr val="D9EA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500" b="1">
                <a:solidFill>
                  <a:srgbClr val="17365D"/>
                </a:solidFill>
              </a:rPr>
              <a:t>0 / 0</a:t>
            </a:r>
          </a:p>
          <a:p>
            <a:pPr algn="ctr"/>
            <a:r>
              <a:rPr sz="1100">
                <a:solidFill>
                  <a:srgbClr val="243447"/>
                </a:solidFill>
              </a:rPr>
              <a:t>Timing / leakage violations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43447"/>
                </a:solidFill>
                <a:latin typeface="Arial"/>
              </a:rPr>
              <a:t>15 SQL tests are represented in the validated aggregate, with zero failures. Individual test IDs are not embedded in this reporting input and therefore are not recreated here; the SQL test catalog and upstream audit results remain the detail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Arial"/>
              </a:rPr>
              <a:t>Observed default rates separate across initial risk bands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240" y="1554480"/>
          <a:ext cx="3886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051560"/>
                <a:gridCol w="1051560"/>
                <a:gridCol w="822960"/>
              </a:tblGrid>
              <a:tr h="53721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Band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Defaults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14,952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1,748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11.69%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8,138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1,339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16.45%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6,910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3,549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51.36%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3977639"/>
            <a:ext cx="3703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43447"/>
                </a:solidFill>
                <a:latin typeface="Arial"/>
              </a:rPr>
              <a:t>The comparison is descriptive within this public source. The bands are prototype review groups—not bank ratings or Stage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Arial"/>
              </a:rPr>
              <a:t>More delinquent months align with higher observed default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43800" y="1508760"/>
          <a:ext cx="39776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60120"/>
                <a:gridCol w="960120"/>
                <a:gridCol w="731520"/>
              </a:tblGrid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6m delinquent months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Defaults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 marL="54864" marR="54864" marT="27432" marB="27432">
                    <a:solidFill>
                      <a:srgbClr val="17365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19,931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2,334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11.71%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4,426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1,320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29.82%</a:t>
                      </a:r>
                    </a:p>
                  </a:txBody>
                  <a:tcPr marL="54864" marR="54864" marT="27432" marB="27432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2+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5,643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2,982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3447"/>
                          </a:solidFill>
                          <a:latin typeface="Arial"/>
                        </a:rPr>
                        <a:t>52.84%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3977639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43447"/>
                </a:solidFill>
                <a:latin typeface="Arial"/>
              </a:rPr>
              <a:t>All 23 validated signal buckets are preserved in the Excel and Word artifacts. This chart shows one economically interpretable path and does not establish causality or out-of-sample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</a:rPr>
              <a:t>INTERNAL ONLY — PENDING GATE 5 AND HUMAN PUBLICATION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Arial"/>
              </a:rPr>
              <a:t>Traceability is complete; publication approval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43447"/>
                </a:solidFill>
                <a:latin typeface="Arial"/>
              </a:rPr>
              <a:t>Evidence path</a:t>
            </a:r>
            <a:br/>
            <a:br/>
            <a:r>
              <a:rPr sz="1500" b="0">
                <a:solidFill>
                  <a:srgbClr val="243447"/>
                </a:solidFill>
                <a:latin typeface="Arial"/>
              </a:rPr>
              <a:t>Claim ID → Office manifest → independent validation JSON → Gate checks → deterministic SQL/code → raw source + SHA-256</a:t>
            </a:r>
            <a:br/>
            <a:br/>
            <a:r>
              <a:rPr sz="1500" b="0">
                <a:solidFill>
                  <a:srgbClr val="243447"/>
                </a:solidFill>
                <a:latin typeface="Arial"/>
              </a:rPr>
              <a:t>Source SHA-256</a:t>
            </a:r>
            <a:br/>
            <a:r>
              <a:rPr sz="1500" b="0">
                <a:solidFill>
                  <a:srgbClr val="243447"/>
                </a:solidFill>
                <a:latin typeface="Arial"/>
              </a:rPr>
              <a:t>30c6be3abd8dcfd3e6096c828bad8c2f011238620f5369220bd60cfc82700933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43447"/>
                </a:solidFill>
                <a:latin typeface="Arial"/>
              </a:rPr>
              <a:t>Required next controls</a:t>
            </a:r>
            <a:br/>
            <a:br/>
            <a:r>
              <a:rPr sz="1500" b="0">
                <a:solidFill>
                  <a:srgbClr val="243447"/>
                </a:solidFill>
                <a:latin typeface="Arial"/>
              </a:rPr>
              <a:t>1. Reconcile Excel, PowerPoint, Word, and report hashes/values.</a:t>
            </a:r>
            <a:br/>
            <a:r>
              <a:rPr sz="1500" b="0">
                <a:solidFill>
                  <a:srgbClr val="243447"/>
                </a:solidFill>
                <a:latin typeface="Arial"/>
              </a:rPr>
              <a:t>2. Complete independent Gate 5 review.</a:t>
            </a:r>
            <a:br/>
            <a:r>
              <a:rPr sz="1500" b="0">
                <a:solidFill>
                  <a:srgbClr val="243447"/>
                </a:solidFill>
                <a:latin typeface="Arial"/>
              </a:rPr>
              <a:t>3. Obtain explicit human approval before external use.</a:t>
            </a:r>
            <a:br/>
            <a:br/>
            <a:r>
              <a:rPr sz="1500" b="0">
                <a:solidFill>
                  <a:srgbClr val="243447"/>
                </a:solidFill>
                <a:latin typeface="Arial"/>
              </a:rPr>
              <a:t>Limitation: Public-data descriptive prototype; not a production IFRS 9 rating, Stage, PD, LGD, EAD, or ECL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785"/>
                </a:solidFill>
                <a:latin typeface="Arial"/>
              </a:rPr>
              <a:t>W1-20260727-001 | definition 0.1.0 | INTERNAL ONLY — PENDING GATE 5 AND HUMAN PUBLICATION APPROVAL |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1 Credit Risk Signal Lab</dc:title>
  <dc:subject>INTERNAL ONLY — PENDING GATE 5 AND HUMAN PUBLICATION APPROVAL</dc:subject>
  <dc:creator>Credit Risk Signal Lab</dc:creator>
  <cp:keywords/>
  <dc:description>generated using python-pptx</dc:description>
  <cp:lastModifiedBy>Steve Canny</cp:lastModifiedBy>
  <cp:revision>1</cp:revision>
  <dcterms:created xsi:type="dcterms:W3CDTF">2026-07-27T12:24:26Z</dcterms:created>
  <dcterms:modified xsi:type="dcterms:W3CDTF">2026-07-27T12:24:26Z</dcterms:modified>
  <cp:category/>
</cp:coreProperties>
</file>